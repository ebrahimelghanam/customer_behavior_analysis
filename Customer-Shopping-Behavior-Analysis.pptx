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Bitter" panose="020B0604020202020204" charset="0"/>
      <p:regular r:id="rId11"/>
    </p:embeddedFont>
    <p:embeddedFont>
      <p:font typeface="Bitter SemiBold" panose="020B0604020202020204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Jost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91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711200"/>
            <a:ext cx="617204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 /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970855"/>
            <a:ext cx="5740256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CUSTOMER SHOPPING BEHAVIOR ANALYSIS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736582" y="3733105"/>
            <a:ext cx="1894237" cy="19050"/>
          </a:xfrm>
          <a:prstGeom prst="roundRect">
            <a:avLst>
              <a:gd name="adj" fmla="val 4999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6582" y="4098230"/>
            <a:ext cx="574025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Transactional evidence from 3,900 purchases across product categories, customer segments, product preferences, and subscription behavior.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6582" y="6061770"/>
            <a:ext cx="617204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18 columns · 37 missing Review Rating values · Python + MySQL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844" y="1489770"/>
            <a:ext cx="7296208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911820"/>
            <a:ext cx="698482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DATA PREPARATION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1171476"/>
            <a:ext cx="6553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ANALYSIS BEGAN WITH A CLEAN, TRACEABLE DATASET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6582" y="3254276"/>
            <a:ext cx="655303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Preparation moved from raw transactions to a structured database ready for business questions.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6582" y="3910707"/>
            <a:ext cx="698482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Missing Review Rating values were imputed with the median rating of each product category.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6582" y="4275138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6582" y="4524077"/>
            <a:ext cx="1981150" cy="19050"/>
          </a:xfrm>
          <a:prstGeom prst="rect">
            <a:avLst/>
          </a:prstGeom>
          <a:solidFill>
            <a:srgbClr val="171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6582" y="4649788"/>
            <a:ext cx="198115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6582" y="5014218"/>
            <a:ext cx="198115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Imported the dataset using </a:t>
            </a:r>
            <a:r>
              <a:rPr lang="en-US" sz="1400" dirty="0">
                <a:solidFill>
                  <a:srgbClr val="F2EDFB"/>
                </a:solidFill>
                <a:highlight>
                  <a:srgbClr val="241D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22524" y="4275138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22524" y="4524077"/>
            <a:ext cx="1981150" cy="19050"/>
          </a:xfrm>
          <a:prstGeom prst="rect">
            <a:avLst/>
          </a:prstGeom>
          <a:solidFill>
            <a:srgbClr val="171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2524" y="4649788"/>
            <a:ext cx="198115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Explore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22524" y="5014218"/>
            <a:ext cx="1981150" cy="1008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Checked structure with </a:t>
            </a:r>
            <a:r>
              <a:rPr lang="en-US" sz="1400" dirty="0">
                <a:solidFill>
                  <a:srgbClr val="F2EDFB"/>
                </a:solidFill>
                <a:highlight>
                  <a:srgbClr val="241D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summary statistics with </a:t>
            </a:r>
            <a:r>
              <a:rPr lang="en-US" sz="1400" dirty="0">
                <a:solidFill>
                  <a:srgbClr val="F2EDFB"/>
                </a:solidFill>
                <a:highlight>
                  <a:srgbClr val="241D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8467" y="4275138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8467" y="4524077"/>
            <a:ext cx="1981150" cy="19050"/>
          </a:xfrm>
          <a:prstGeom prst="rect">
            <a:avLst/>
          </a:prstGeom>
          <a:solidFill>
            <a:srgbClr val="171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8467" y="4649788"/>
            <a:ext cx="198115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Standardize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08467" y="5014218"/>
            <a:ext cx="198115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Renamed columns to snake case for readability.</a:t>
            </a:r>
            <a:endParaRPr lang="en-US" sz="14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1371600"/>
            <a:ext cx="3898802" cy="4114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09585" y="6466086"/>
            <a:ext cx="190326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SHOPPING BEHAVIOR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514346" y="6466086"/>
            <a:ext cx="67734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1312069"/>
            <a:ext cx="113281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CUSTOMER AND PRODUCT SIGNALS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1571724"/>
            <a:ext cx="107185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Discount users still spend above average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6582" y="2196505"/>
            <a:ext cx="6248244" cy="3374727"/>
          </a:xfrm>
          <a:prstGeom prst="rect">
            <a:avLst/>
          </a:prstGeom>
          <a:solidFill>
            <a:srgbClr val="4A3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5176" y="3177580"/>
            <a:ext cx="36575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SIGNAL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5176" y="3437235"/>
            <a:ext cx="365750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High-spending discount users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5176" y="3843635"/>
            <a:ext cx="365750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Identified customers who used discounts but still spent above the average purchase amount.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477" y="3441005"/>
            <a:ext cx="1777956" cy="8857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89518" y="2425105"/>
            <a:ext cx="416559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5 PRODUCTS BY RATING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9518" y="2716510"/>
          <a:ext cx="4165595" cy="2626056"/>
        </p:xfrm>
        <a:graphic>
          <a:graphicData uri="http://schemas.openxmlformats.org/drawingml/2006/table">
            <a:tbl>
              <a:tblPr/>
              <a:tblGrid>
                <a:gridCol w="2249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Item purchased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Average product rating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Gloves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3.86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Sandals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3.84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Boots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3.82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Hat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3.80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Skirt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3.78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09585" y="6466086"/>
            <a:ext cx="190326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SHOPPING BEHAVIOR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511171" y="6466086"/>
            <a:ext cx="68052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482600"/>
            <a:ext cx="113281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— SHIPPING AND SUBSCRIPTION BEHAVIOR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742255"/>
            <a:ext cx="107185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Shipping and subscription status: spend patterns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6582" y="1367036"/>
            <a:ext cx="5206870" cy="3222327"/>
          </a:xfrm>
          <a:prstGeom prst="rect">
            <a:avLst/>
          </a:prstGeom>
          <a:solidFill>
            <a:srgbClr val="4A3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9776" y="1519436"/>
            <a:ext cx="500367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SHIPPING TYPE COMPARISON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776" y="1810841"/>
          <a:ext cx="4800480" cy="1185436"/>
        </p:xfrm>
        <a:graphic>
          <a:graphicData uri="http://schemas.openxmlformats.org/drawingml/2006/table">
            <a:tbl>
              <a:tblPr/>
              <a:tblGrid>
                <a:gridCol w="2304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Shipping type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Average purchase amount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Standard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58.46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Express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60.48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48244" y="1367036"/>
            <a:ext cx="5206870" cy="3222327"/>
          </a:xfrm>
          <a:prstGeom prst="rect">
            <a:avLst/>
          </a:prstGeom>
          <a:solidFill>
            <a:srgbClr val="4A3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51439" y="1519436"/>
            <a:ext cx="500367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PRODUCT RATING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1439" y="1810841"/>
          <a:ext cx="4800480" cy="2626056"/>
        </p:xfrm>
        <a:graphic>
          <a:graphicData uri="http://schemas.openxmlformats.org/drawingml/2006/table">
            <a:tbl>
              <a:tblPr/>
              <a:tblGrid>
                <a:gridCol w="2976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Item purchased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Average Product Rating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Gloves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3.86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Sandals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3.84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Boots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3.82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Hat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3.80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Skirt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3.78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566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36582" y="4767163"/>
            <a:ext cx="5206870" cy="1468537"/>
          </a:xfrm>
          <a:prstGeom prst="rect">
            <a:avLst/>
          </a:prstGeom>
          <a:solidFill>
            <a:srgbClr val="4A3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39776" y="4919563"/>
            <a:ext cx="500367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SUBSCRIBERS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39776" y="5179219"/>
            <a:ext cx="48004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1,053 customers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39776" y="5585619"/>
            <a:ext cx="480048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spend: 59.49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Total revenue: 62,645.00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48244" y="4767163"/>
            <a:ext cx="5206870" cy="1468537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51439" y="4919563"/>
            <a:ext cx="500367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NON-SUBSCRIBERS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51439" y="5179219"/>
            <a:ext cx="48004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2,847 customers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451439" y="5585619"/>
            <a:ext cx="480048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spend: 59.87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Total revenue: 170,436.00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09585" y="6466086"/>
            <a:ext cx="190326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SHOPPING BEHAVIOR</a:t>
            </a:r>
            <a:endParaRPr lang="en-US" sz="10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509385" y="6466086"/>
            <a:ext cx="6823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533400"/>
            <a:ext cx="71880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— DISCOUNT DEPENDENCY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793055"/>
            <a:ext cx="6756231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DISCOUNT RELIANCE IS CONCENTRATED IN A SMALL PRODUCT SET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6582" y="2875855"/>
            <a:ext cx="71880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Five products carry the highest percentage of discounted purchases.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582" y="3302496"/>
          <a:ext cx="6756232" cy="2377222"/>
        </p:xfrm>
        <a:graphic>
          <a:graphicData uri="http://schemas.openxmlformats.org/drawingml/2006/table">
            <a:tbl>
              <a:tblPr/>
              <a:tblGrid>
                <a:gridCol w="391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Item purchased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Discounted purchases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Hat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50.00%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Sneakers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49.66%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Coat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49.07%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Sweater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48.17%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Pants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47.37%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602" y="2139950"/>
            <a:ext cx="3911502" cy="2298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6466086"/>
            <a:ext cx="190326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SHOPPING BEHAVIOR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15635" y="6466086"/>
            <a:ext cx="6760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482600"/>
            <a:ext cx="113281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CUSTOMER SEGMENTS AND CATEGORY DEMAND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742255"/>
            <a:ext cx="107185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LOYAL CUSTOMERS DOMINATE THE CUSTOMER 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6582" y="1769070"/>
            <a:ext cx="698998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3 PRODUCTS PER CATEGORY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582" y="2114451"/>
          <a:ext cx="6989984" cy="3966270"/>
        </p:xfrm>
        <a:graphic>
          <a:graphicData uri="http://schemas.openxmlformats.org/drawingml/2006/table">
            <a:tbl>
              <a:tblPr/>
              <a:tblGrid>
                <a:gridCol w="838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6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78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Rank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Category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Item purchased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Total orders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Accessories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Jewelry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171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Accessories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Sunglasses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Accessories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Belt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Clothing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Blouse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171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Clothing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Pants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171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Clothing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Shirt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169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Footwear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Sandals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160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Footwear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Shoes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150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Footwear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Sneakers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145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6582" y="6239570"/>
            <a:ext cx="698998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contribution by age group was also calculated for comparison.</a:t>
            </a:r>
            <a:endParaRPr lang="en-US" sz="1050" dirty="0"/>
          </a:p>
        </p:txBody>
      </p:sp>
      <p:sp>
        <p:nvSpPr>
          <p:cNvPr id="5" name="Text 4"/>
          <p:cNvSpPr/>
          <p:nvPr/>
        </p:nvSpPr>
        <p:spPr>
          <a:xfrm>
            <a:off x="8031259" y="1769070"/>
            <a:ext cx="403343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SEGMENTATION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31259" y="2114451"/>
          <a:ext cx="3423854" cy="1831532"/>
        </p:xfrm>
        <a:graphic>
          <a:graphicData uri="http://schemas.openxmlformats.org/drawingml/2006/table">
            <a:tbl>
              <a:tblPr/>
              <a:tblGrid>
                <a:gridCol w="1540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Segment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Number of customers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Loyal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3,116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Returning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701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New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83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259" y="4104779"/>
            <a:ext cx="3423854" cy="11458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585" y="6466086"/>
            <a:ext cx="190326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SHOPPING BEHAVIOR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08988" y="6466086"/>
            <a:ext cx="68270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918" y="1192609"/>
            <a:ext cx="6569010" cy="34408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58918" cy="6532463"/>
          </a:xfrm>
          <a:prstGeom prst="roundRect">
            <a:avLst>
              <a:gd name="adj" fmla="val 549"/>
            </a:avLst>
          </a:prstGeom>
          <a:solidFill>
            <a:srgbClr val="17102B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9393" y="228600"/>
            <a:ext cx="49097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DECISION VIEW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79393" y="488255"/>
            <a:ext cx="4300132" cy="335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ANALYSIS BECOMES A WORKING CUSTOMER VIEW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79393" y="4018657"/>
            <a:ext cx="430013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Filters connect subscription status, gender, category, shipping type, and customer behavior to the metrics that matter.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533400"/>
            <a:ext cx="113281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BUSINESS IMPLICATIONS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6582" y="793055"/>
            <a:ext cx="10718532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TURN SHOPPING SIGNALS INTO TARGETED ACTION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6582" y="2240855"/>
            <a:ext cx="1132811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Four practical moves follow directly from the customer, product, shipping, and subscription analysis.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6582" y="2692896"/>
            <a:ext cx="5206870" cy="1519337"/>
          </a:xfrm>
          <a:prstGeom prst="roundRect">
            <a:avLst>
              <a:gd name="adj" fmla="val 752"/>
            </a:avLst>
          </a:prstGeom>
          <a:solidFill>
            <a:srgbClr val="4A3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5975" y="2870696"/>
            <a:ext cx="49274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15975" y="3130352"/>
            <a:ext cx="46480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Customer Loyalty Programs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5975" y="3536752"/>
            <a:ext cx="46480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Reward repeat buyers to move them into the “Loyal” segment.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2692896"/>
            <a:ext cx="5206870" cy="1519337"/>
          </a:xfrm>
          <a:prstGeom prst="roundRect">
            <a:avLst>
              <a:gd name="adj" fmla="val 75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27637" y="2870696"/>
            <a:ext cx="49274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27637" y="3130352"/>
            <a:ext cx="46480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Review Discount Policy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27637" y="3536752"/>
            <a:ext cx="49274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Balance sales boosts with margin control.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6582" y="4517033"/>
            <a:ext cx="5206870" cy="1519337"/>
          </a:xfrm>
          <a:prstGeom prst="roundRect">
            <a:avLst>
              <a:gd name="adj" fmla="val 752"/>
            </a:avLst>
          </a:prstGeom>
          <a:solidFill>
            <a:srgbClr val="4A3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5975" y="4694833"/>
            <a:ext cx="49274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15975" y="4954488"/>
            <a:ext cx="46480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Positioning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5975" y="5360888"/>
            <a:ext cx="46480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Highlight top-rated and best-selling products in campaigns.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8244" y="4517033"/>
            <a:ext cx="5206870" cy="1519337"/>
          </a:xfrm>
          <a:prstGeom prst="roundRect">
            <a:avLst>
              <a:gd name="adj" fmla="val 75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27637" y="4694833"/>
            <a:ext cx="49274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27637" y="4954488"/>
            <a:ext cx="46480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Targeted Marketing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27637" y="5360888"/>
            <a:ext cx="46480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Focus efforts on high-revenue age groups and express-shipping users.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585" y="6466086"/>
            <a:ext cx="190326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SHOPPING BEHAVIOR</a:t>
            </a:r>
            <a:endParaRPr lang="en-US" sz="10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061" y="6459835"/>
            <a:ext cx="889573" cy="18663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507301" y="6466086"/>
            <a:ext cx="6843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</Words>
  <Application>Microsoft Office PowerPoint</Application>
  <PresentationFormat>Widescreen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Consolas</vt:lpstr>
      <vt:lpstr>Jost</vt:lpstr>
      <vt:lpstr>Bitter</vt:lpstr>
      <vt:lpstr>Bitter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AdminOS</dc:creator>
  <cp:lastModifiedBy>Ebrahim Ahmed Elghanam</cp:lastModifiedBy>
  <cp:revision>2</cp:revision>
  <dcterms:created xsi:type="dcterms:W3CDTF">2026-10-03T18:21:43Z</dcterms:created>
  <dcterms:modified xsi:type="dcterms:W3CDTF">2026-10-03T18:24:45Z</dcterms:modified>
</cp:coreProperties>
</file>